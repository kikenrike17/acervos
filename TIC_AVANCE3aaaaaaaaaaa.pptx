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2"/>
  </p:notesMasterIdLst>
  <p:sldIdLst>
    <p:sldId id="257" r:id="rId2"/>
    <p:sldId id="299" r:id="rId3"/>
    <p:sldId id="307" r:id="rId4"/>
    <p:sldId id="298" r:id="rId5"/>
    <p:sldId id="301" r:id="rId6"/>
    <p:sldId id="302" r:id="rId7"/>
    <p:sldId id="308" r:id="rId8"/>
    <p:sldId id="309" r:id="rId9"/>
    <p:sldId id="303" r:id="rId10"/>
    <p:sldId id="304" r:id="rId11"/>
  </p:sldIdLst>
  <p:sldSz cx="12192000" cy="6858000"/>
  <p:notesSz cx="12192000" cy="6858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puesta de Outsourcing" id="{807F5440-7963-4A91-9547-06FE55845EA1}">
          <p14:sldIdLst>
            <p14:sldId id="257"/>
            <p14:sldId id="299"/>
            <p14:sldId id="307"/>
            <p14:sldId id="298"/>
          </p14:sldIdLst>
        </p14:section>
        <p14:section name="PRODUCTO" id="{A782118B-6C8A-4BB0-BC62-3242A09B0E66}">
          <p14:sldIdLst>
            <p14:sldId id="301"/>
            <p14:sldId id="302"/>
            <p14:sldId id="308"/>
            <p14:sldId id="309"/>
            <p14:sldId id="303"/>
            <p14:sldId id="30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>
      <p:cViewPr>
        <p:scale>
          <a:sx n="66" d="100"/>
          <a:sy n="66" d="100"/>
        </p:scale>
        <p:origin x="1968" y="10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b="1" dirty="0"/>
              <a:t>Tiempo de ejecución de ODG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PE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Tiempo manual (h)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Hoja1!$A$2:$A$8</c:f>
              <c:numCache>
                <c:formatCode>General</c:formatCode>
                <c:ptCount val="7"/>
                <c:pt idx="0">
                  <c:v>20</c:v>
                </c:pt>
                <c:pt idx="1">
                  <c:v>30</c:v>
                </c:pt>
                <c:pt idx="2">
                  <c:v>40</c:v>
                </c:pt>
                <c:pt idx="3">
                  <c:v>50</c:v>
                </c:pt>
                <c:pt idx="4">
                  <c:v>60</c:v>
                </c:pt>
                <c:pt idx="5">
                  <c:v>70</c:v>
                </c:pt>
                <c:pt idx="6">
                  <c:v>80</c:v>
                </c:pt>
              </c:numCache>
            </c:numRef>
          </c:cat>
          <c:val>
            <c:numRef>
              <c:f>Hoja1!$B$2:$B$8</c:f>
              <c:numCache>
                <c:formatCode>General</c:formatCode>
                <c:ptCount val="7"/>
                <c:pt idx="0">
                  <c:v>1.75</c:v>
                </c:pt>
                <c:pt idx="1">
                  <c:v>2.62</c:v>
                </c:pt>
                <c:pt idx="2">
                  <c:v>3.5</c:v>
                </c:pt>
                <c:pt idx="3">
                  <c:v>4.38</c:v>
                </c:pt>
                <c:pt idx="4">
                  <c:v>5.25</c:v>
                </c:pt>
                <c:pt idx="5">
                  <c:v>6.12</c:v>
                </c:pt>
                <c:pt idx="6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9F8-43FD-B0B8-9FCA02AFFBDF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Tiempo automat (h)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Hoja1!$A$2:$A$8</c:f>
              <c:numCache>
                <c:formatCode>General</c:formatCode>
                <c:ptCount val="7"/>
                <c:pt idx="0">
                  <c:v>20</c:v>
                </c:pt>
                <c:pt idx="1">
                  <c:v>30</c:v>
                </c:pt>
                <c:pt idx="2">
                  <c:v>40</c:v>
                </c:pt>
                <c:pt idx="3">
                  <c:v>50</c:v>
                </c:pt>
                <c:pt idx="4">
                  <c:v>60</c:v>
                </c:pt>
                <c:pt idx="5">
                  <c:v>70</c:v>
                </c:pt>
                <c:pt idx="6">
                  <c:v>80</c:v>
                </c:pt>
              </c:numCache>
            </c:numRef>
          </c:cat>
          <c:val>
            <c:numRef>
              <c:f>Hoja1!$C$2:$C$8</c:f>
              <c:numCache>
                <c:formatCode>General</c:formatCode>
                <c:ptCount val="7"/>
                <c:pt idx="0">
                  <c:v>0.83</c:v>
                </c:pt>
                <c:pt idx="1">
                  <c:v>1.25</c:v>
                </c:pt>
                <c:pt idx="2">
                  <c:v>1.67</c:v>
                </c:pt>
                <c:pt idx="3">
                  <c:v>2.08</c:v>
                </c:pt>
                <c:pt idx="4">
                  <c:v>2.5</c:v>
                </c:pt>
                <c:pt idx="5">
                  <c:v>2.92</c:v>
                </c:pt>
                <c:pt idx="6">
                  <c:v>3.33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9F8-43FD-B0B8-9FCA02AFFB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37927536"/>
        <c:axId val="606634416"/>
      </c:lineChart>
      <c:catAx>
        <c:axId val="83792753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PE" dirty="0"/>
                  <a:t>Cantidad de ODG ejecutadas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P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606634416"/>
        <c:crosses val="autoZero"/>
        <c:auto val="1"/>
        <c:lblAlgn val="ctr"/>
        <c:lblOffset val="100"/>
        <c:noMultiLvlLbl val="0"/>
      </c:catAx>
      <c:valAx>
        <c:axId val="6066344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PE"/>
                  <a:t>Tiempo de ejecución </a:t>
                </a:r>
                <a:br>
                  <a:rPr lang="es-PE"/>
                </a:br>
                <a:r>
                  <a:rPr lang="es-PE"/>
                  <a:t>(en horas)</a:t>
                </a:r>
              </a:p>
              <a:p>
                <a:pPr>
                  <a:defRPr/>
                </a:pPr>
                <a:endParaRPr lang="es-PE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P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837927536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accent1"/>
      </a:solidFill>
    </a:ln>
    <a:effectLst/>
  </c:spPr>
  <c:txPr>
    <a:bodyPr/>
    <a:lstStyle/>
    <a:p>
      <a:pPr>
        <a:defRPr/>
      </a:pPr>
      <a:endParaRPr lang="es-P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b="1" u="sng" dirty="0"/>
              <a:t>Horas-especialistas utilizadas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PE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Tiempo manual (h)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Hoja1!$A$2:$A$8</c:f>
              <c:numCache>
                <c:formatCode>General</c:formatCode>
                <c:ptCount val="7"/>
                <c:pt idx="0">
                  <c:v>20</c:v>
                </c:pt>
                <c:pt idx="1">
                  <c:v>30</c:v>
                </c:pt>
                <c:pt idx="2">
                  <c:v>40</c:v>
                </c:pt>
                <c:pt idx="3">
                  <c:v>50</c:v>
                </c:pt>
                <c:pt idx="4">
                  <c:v>60</c:v>
                </c:pt>
                <c:pt idx="5">
                  <c:v>70</c:v>
                </c:pt>
                <c:pt idx="6">
                  <c:v>80</c:v>
                </c:pt>
              </c:numCache>
            </c:numRef>
          </c:cat>
          <c:val>
            <c:numRef>
              <c:f>Hoja1!$B$2:$B$8</c:f>
              <c:numCache>
                <c:formatCode>General</c:formatCode>
                <c:ptCount val="7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3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18A-4F62-8E48-DB28E68E0F51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Tiempo automat (h)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Hoja1!$A$2:$A$8</c:f>
              <c:numCache>
                <c:formatCode>General</c:formatCode>
                <c:ptCount val="7"/>
                <c:pt idx="0">
                  <c:v>20</c:v>
                </c:pt>
                <c:pt idx="1">
                  <c:v>30</c:v>
                </c:pt>
                <c:pt idx="2">
                  <c:v>40</c:v>
                </c:pt>
                <c:pt idx="3">
                  <c:v>50</c:v>
                </c:pt>
                <c:pt idx="4">
                  <c:v>60</c:v>
                </c:pt>
                <c:pt idx="5">
                  <c:v>70</c:v>
                </c:pt>
                <c:pt idx="6">
                  <c:v>80</c:v>
                </c:pt>
              </c:numCache>
            </c:numRef>
          </c:cat>
          <c:val>
            <c:numRef>
              <c:f>Hoja1!$C$2:$C$8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18A-4F62-8E48-DB28E68E0F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37927536"/>
        <c:axId val="606634416"/>
      </c:lineChart>
      <c:catAx>
        <c:axId val="83792753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PE"/>
                  <a:t>Cantidad de ODG ejecutadas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P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606634416"/>
        <c:crosses val="autoZero"/>
        <c:auto val="1"/>
        <c:lblAlgn val="ctr"/>
        <c:lblOffset val="100"/>
        <c:noMultiLvlLbl val="0"/>
      </c:catAx>
      <c:valAx>
        <c:axId val="6066344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PE" dirty="0"/>
                  <a:t>Especialistas necesarios</a:t>
                </a:r>
              </a:p>
              <a:p>
                <a:pPr>
                  <a:defRPr/>
                </a:pPr>
                <a:endParaRPr lang="es-PE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P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837927536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accent1"/>
      </a:solidFill>
    </a:ln>
    <a:effectLst/>
  </c:spPr>
  <c:txPr>
    <a:bodyPr/>
    <a:lstStyle/>
    <a:p>
      <a:pPr>
        <a:defRPr/>
      </a:pPr>
      <a:endParaRPr lang="es-P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sz="1860" b="1" u="sng" dirty="0"/>
              <a:t>Porcentaje de reducción de errores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P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Promedio de errores (manual)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Hoja1!$A$2:$A$5</c:f>
              <c:numCache>
                <c:formatCode>General</c:formatCode>
                <c:ptCount val="4"/>
                <c:pt idx="0">
                  <c:v>20</c:v>
                </c:pt>
                <c:pt idx="1">
                  <c:v>40</c:v>
                </c:pt>
                <c:pt idx="2">
                  <c:v>60</c:v>
                </c:pt>
                <c:pt idx="3">
                  <c:v>80</c:v>
                </c:pt>
              </c:numCache>
            </c:numRef>
          </c:cat>
          <c:val>
            <c:numRef>
              <c:f>Hoja1!$B$2:$B$5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5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2D-4246-8648-50D5E2FBE5CE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Promedio de errores (automat)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Hoja1!$A$2:$A$5</c:f>
              <c:numCache>
                <c:formatCode>General</c:formatCode>
                <c:ptCount val="4"/>
                <c:pt idx="0">
                  <c:v>20</c:v>
                </c:pt>
                <c:pt idx="1">
                  <c:v>40</c:v>
                </c:pt>
                <c:pt idx="2">
                  <c:v>60</c:v>
                </c:pt>
                <c:pt idx="3">
                  <c:v>80</c:v>
                </c:pt>
              </c:numCache>
            </c:numRef>
          </c:cat>
          <c:val>
            <c:numRef>
              <c:f>Hoja1!$C$2:$C$5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B2D-4246-8648-50D5E2FBE5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60965680"/>
        <c:axId val="888532576"/>
      </c:barChart>
      <c:catAx>
        <c:axId val="8609656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PE" sz="133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Cantidad de ODG ejecutadas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P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888532576"/>
        <c:crosses val="autoZero"/>
        <c:auto val="1"/>
        <c:lblAlgn val="ctr"/>
        <c:lblOffset val="100"/>
        <c:noMultiLvlLbl val="0"/>
      </c:catAx>
      <c:valAx>
        <c:axId val="8885325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 dirty="0"/>
                  <a:t>Cantidad</a:t>
                </a:r>
                <a:r>
                  <a:rPr lang="es-ES" baseline="0" dirty="0"/>
                  <a:t> de errores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P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8609656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accent1"/>
      </a:solidFill>
    </a:ln>
    <a:effectLst/>
  </c:spPr>
  <c:txPr>
    <a:bodyPr/>
    <a:lstStyle/>
    <a:p>
      <a:pPr>
        <a:defRPr/>
      </a:pPr>
      <a:endParaRPr lang="es-P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C9C219-9A63-48ED-ACBA-4C24AD224356}" type="datetimeFigureOut">
              <a:rPr lang="es-PE" smtClean="0"/>
              <a:t>20/11/2025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889EB8-BACB-4EF2-99B9-DE545FAFDE6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68437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771520" y="393128"/>
            <a:ext cx="6648958" cy="940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PE"/>
              <a:t>Curso Integrador I</a:t>
            </a:r>
            <a:endParaRPr lang="es-PE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71DBA0-F2E2-4C52-B27F-19DBBF38CDF7}" type="datetime1">
              <a:rPr lang="en-US" smtClean="0"/>
              <a:t>11/20/2025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06000" y="228600"/>
            <a:ext cx="2133600" cy="5371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43000" y="381000"/>
            <a:ext cx="9743440" cy="2023745"/>
          </a:xfrm>
        </p:spPr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PE"/>
              <a:t>Curso Integrador I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FB099-D979-490B-B26E-43E8C77967FB}" type="datetime1">
              <a:rPr lang="en-US" smtClean="0"/>
              <a:t>11/20/2025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06000" y="228600"/>
            <a:ext cx="2133600" cy="5371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PE"/>
              <a:t>Curso Integrador I</a:t>
            </a: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02523-AC0F-4A99-A4A0-49D8F4A591AD}" type="datetime1">
              <a:rPr lang="en-US" smtClean="0"/>
              <a:t>11/20/2025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06000" y="228600"/>
            <a:ext cx="2133600" cy="5371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PE"/>
              <a:t>Curso Integrador I</a:t>
            </a:r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59F592-818C-47E7-AB0A-88E8ABF18744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6" name="Imagen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06000" y="228600"/>
            <a:ext cx="2133600" cy="5371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818619" cy="6857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PE"/>
              <a:t>Curso Integrador I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C3C62-8F16-432F-80A0-5E43C2087372}" type="datetime1">
              <a:rPr lang="en-US" smtClean="0"/>
              <a:t>11/20/2025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66800" y="381000"/>
            <a:ext cx="9743440" cy="2023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44345" y="1960498"/>
            <a:ext cx="8703309" cy="4645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PE"/>
              <a:t>Curso Integrador I</a:t>
            </a:r>
            <a:endParaRPr lang="es-PE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9AC4-F4BB-4E5B-BB55-50A114BF5B35}" type="datetime1">
              <a:rPr lang="en-US" smtClean="0"/>
              <a:t>11/20/2025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9778" y="1600200"/>
            <a:ext cx="10152444" cy="1269578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 marR="5080" indent="86360" algn="ctr">
              <a:spcBef>
                <a:spcPts val="900"/>
              </a:spcBef>
            </a:pPr>
            <a:r>
              <a:rPr lang="es-ES" sz="2500" b="1" u="sng" dirty="0">
                <a:latin typeface="Arial"/>
                <a:cs typeface="Arial"/>
              </a:rPr>
              <a:t>Propuesta de outsourcing para la Sección de contabilidad y recaudación de la IAMC</a:t>
            </a:r>
            <a:br>
              <a:rPr lang="es-ES" sz="2500" b="1" u="sng" dirty="0">
                <a:latin typeface="Arial"/>
                <a:cs typeface="Arial"/>
              </a:rPr>
            </a:br>
            <a:endParaRPr sz="2500" u="sng" dirty="0">
              <a:latin typeface="Arial"/>
              <a:cs typeface="Arial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2286000" y="3071203"/>
            <a:ext cx="289560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735"/>
              </a:lnSpc>
            </a:pPr>
            <a:r>
              <a:rPr lang="es-PE" sz="2500" b="1" spc="-5" dirty="0">
                <a:latin typeface="Arial"/>
                <a:cs typeface="Arial"/>
              </a:rPr>
              <a:t>Autor			:</a:t>
            </a:r>
          </a:p>
          <a:p>
            <a:pPr algn="ctr">
              <a:lnSpc>
                <a:spcPts val="2735"/>
              </a:lnSpc>
            </a:pPr>
            <a:endParaRPr sz="2500" dirty="0">
              <a:latin typeface="Arial"/>
              <a:cs typeface="Arial"/>
            </a:endParaRPr>
          </a:p>
        </p:txBody>
      </p:sp>
      <p:pic>
        <p:nvPicPr>
          <p:cNvPr id="6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76200"/>
            <a:ext cx="3200400" cy="1056286"/>
          </a:xfrm>
          <a:prstGeom prst="rect">
            <a:avLst/>
          </a:prstGeom>
        </p:spPr>
      </p:pic>
      <p:sp>
        <p:nvSpPr>
          <p:cNvPr id="7" name="object 3"/>
          <p:cNvSpPr txBox="1">
            <a:spLocks/>
          </p:cNvSpPr>
          <p:nvPr/>
        </p:nvSpPr>
        <p:spPr>
          <a:xfrm>
            <a:off x="4953000" y="5545301"/>
            <a:ext cx="228600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395605">
              <a:spcBef>
                <a:spcPts val="100"/>
              </a:spcBef>
            </a:pPr>
            <a:r>
              <a:rPr lang="es-ES" sz="2500" b="1" kern="0" spc="-20" dirty="0"/>
              <a:t>Lima 2025</a:t>
            </a:r>
          </a:p>
        </p:txBody>
      </p:sp>
      <p:sp>
        <p:nvSpPr>
          <p:cNvPr id="2" name="Marcador de pie de página 1"/>
          <p:cNvSpPr>
            <a:spLocks noGrp="1"/>
          </p:cNvSpPr>
          <p:nvPr>
            <p:ph type="ftr" sz="quarter" idx="5"/>
          </p:nvPr>
        </p:nvSpPr>
        <p:spPr>
          <a:xfrm>
            <a:off x="3349132" y="6452625"/>
            <a:ext cx="5379720" cy="276999"/>
          </a:xfrm>
        </p:spPr>
        <p:txBody>
          <a:bodyPr/>
          <a:lstStyle/>
          <a:p>
            <a:r>
              <a:rPr lang="es-ES" dirty="0"/>
              <a:t>Planeamiento Estratégico de las Tics- Sección 13592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84721"/>
          </a:xfrm>
        </p:spPr>
        <p:txBody>
          <a:bodyPr/>
          <a:lstStyle/>
          <a:p>
            <a:fld id="{B6F15528-21DE-4FAA-801E-634DDDAF4B2B}" type="slidenum">
              <a:rPr lang="es-PE" sz="2500" smtClean="0"/>
              <a:t>1</a:t>
            </a:fld>
            <a:endParaRPr lang="es-PE" sz="2500"/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9C2B769-4ACC-207B-396B-88D99A4971A7}"/>
              </a:ext>
            </a:extLst>
          </p:cNvPr>
          <p:cNvSpPr txBox="1"/>
          <p:nvPr/>
        </p:nvSpPr>
        <p:spPr>
          <a:xfrm>
            <a:off x="5334000" y="3063921"/>
            <a:ext cx="4992368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735"/>
              </a:lnSpc>
            </a:pPr>
            <a:r>
              <a:rPr lang="es-PE" sz="2500" b="1" spc="-5" dirty="0">
                <a:latin typeface="Arial"/>
                <a:cs typeface="Arial"/>
              </a:rPr>
              <a:t>Amaya Campos Jose Enrique</a:t>
            </a:r>
          </a:p>
          <a:p>
            <a:pPr algn="ctr">
              <a:lnSpc>
                <a:spcPts val="2735"/>
              </a:lnSpc>
            </a:pPr>
            <a:endParaRPr sz="2500" dirty="0">
              <a:latin typeface="Arial"/>
              <a:cs typeface="Arial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3A9A57B1-B403-C09F-88C9-58AA2947CAE2}"/>
              </a:ext>
            </a:extLst>
          </p:cNvPr>
          <p:cNvSpPr txBox="1"/>
          <p:nvPr/>
        </p:nvSpPr>
        <p:spPr>
          <a:xfrm>
            <a:off x="2133600" y="3827754"/>
            <a:ext cx="320040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735"/>
              </a:lnSpc>
            </a:pPr>
            <a:r>
              <a:rPr lang="es-PE" sz="2500" b="1" spc="-5" dirty="0">
                <a:latin typeface="Arial"/>
                <a:cs typeface="Arial"/>
              </a:rPr>
              <a:t>Docente		:</a:t>
            </a:r>
          </a:p>
          <a:p>
            <a:pPr algn="ctr">
              <a:lnSpc>
                <a:spcPts val="2735"/>
              </a:lnSpc>
            </a:pPr>
            <a:endParaRPr sz="2500" dirty="0">
              <a:latin typeface="Arial"/>
              <a:cs typeface="Arial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B60B3382-9A95-E167-BF04-C421A9A3DD96}"/>
              </a:ext>
            </a:extLst>
          </p:cNvPr>
          <p:cNvSpPr txBox="1"/>
          <p:nvPr/>
        </p:nvSpPr>
        <p:spPr>
          <a:xfrm>
            <a:off x="5346290" y="3827754"/>
            <a:ext cx="4134503" cy="3590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735"/>
              </a:lnSpc>
            </a:pPr>
            <a:r>
              <a:rPr lang="es-PE" sz="2500" b="1" spc="-5" dirty="0" err="1">
                <a:latin typeface="Arial"/>
                <a:cs typeface="Arial"/>
              </a:rPr>
              <a:t>Rios</a:t>
            </a:r>
            <a:r>
              <a:rPr lang="es-PE" sz="2500" b="1" spc="-5" dirty="0">
                <a:latin typeface="Arial"/>
                <a:cs typeface="Arial"/>
              </a:rPr>
              <a:t> Herrera </a:t>
            </a:r>
            <a:r>
              <a:rPr lang="es-PE" sz="2500" b="1" spc="-5" dirty="0" err="1">
                <a:latin typeface="Arial"/>
                <a:cs typeface="Arial"/>
              </a:rPr>
              <a:t>Josue</a:t>
            </a:r>
            <a:r>
              <a:rPr lang="es-PE" sz="2500" b="1" spc="-5" dirty="0">
                <a:latin typeface="Arial"/>
                <a:cs typeface="Arial"/>
              </a:rPr>
              <a:t> Joel</a:t>
            </a:r>
            <a:endParaRPr lang="es-PE" sz="25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43420" y="222592"/>
            <a:ext cx="633920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2800" b="1" u="sng" dirty="0"/>
              <a:t>Propuesta de Outsourcing</a:t>
            </a:r>
            <a:endParaRPr sz="2800" b="1" u="sng" spc="-1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40800" y="6057900"/>
            <a:ext cx="3050540" cy="670560"/>
          </a:xfrm>
          <a:prstGeom prst="rect">
            <a:avLst/>
          </a:prstGeom>
        </p:spPr>
      </p:pic>
      <p:sp>
        <p:nvSpPr>
          <p:cNvPr id="3" name="Marcador de número de diapositiva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PE" smtClean="0"/>
              <a:t>2</a:t>
            </a:fld>
            <a:endParaRPr lang="es-PE"/>
          </a:p>
        </p:txBody>
      </p:sp>
      <p:sp>
        <p:nvSpPr>
          <p:cNvPr id="4" name="Marcador de pie de página 1">
            <a:extLst>
              <a:ext uri="{FF2B5EF4-FFF2-40B4-BE49-F238E27FC236}">
                <a16:creationId xmlns:a16="http://schemas.microsoft.com/office/drawing/2014/main" id="{722E7BA2-119B-7A35-E4CF-A829E5947DD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413761" y="6515100"/>
            <a:ext cx="5379720" cy="342900"/>
          </a:xfrm>
        </p:spPr>
        <p:txBody>
          <a:bodyPr/>
          <a:lstStyle/>
          <a:p>
            <a:r>
              <a:rPr lang="es-ES" dirty="0"/>
              <a:t>Planeamiento Estratégico de las Tics- Sección 13592</a:t>
            </a:r>
            <a:endParaRPr lang="es-PE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33FE25F-2889-4DDD-3EB3-724D77E7CEC9}"/>
              </a:ext>
            </a:extLst>
          </p:cNvPr>
          <p:cNvSpPr txBox="1"/>
          <p:nvPr/>
        </p:nvSpPr>
        <p:spPr>
          <a:xfrm>
            <a:off x="2689299" y="889240"/>
            <a:ext cx="75978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b="1" dirty="0"/>
              <a:t>Necesidad/motivos del Outsourcing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Procesos digitales funcionales pero lentos y con alto consumo de personal.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El área no puede crear ni mantener automatizaciones.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El soporte TI institucional no es especializado en Microsoft 365/automatizaciones.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Se requiere soporte experto para mejorar velocidad y eficiencia.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B05E308-BE1C-E66D-E42B-E7B8CEC97612}"/>
              </a:ext>
            </a:extLst>
          </p:cNvPr>
          <p:cNvSpPr txBox="1"/>
          <p:nvPr/>
        </p:nvSpPr>
        <p:spPr>
          <a:xfrm>
            <a:off x="406986" y="3160715"/>
            <a:ext cx="1981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Área a externalizar</a:t>
            </a:r>
            <a:br>
              <a:rPr lang="es-ES" b="1" dirty="0"/>
            </a:b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E6CAF5D-E529-2465-B8F4-0E3B39CF4837}"/>
              </a:ext>
            </a:extLst>
          </p:cNvPr>
          <p:cNvSpPr txBox="1"/>
          <p:nvPr/>
        </p:nvSpPr>
        <p:spPr>
          <a:xfrm>
            <a:off x="984631" y="4486462"/>
            <a:ext cx="36895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Soporte técnico y mantenimiento de las automatizaciones del área.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92108C3-4864-7FFC-C705-69A9E44D764C}"/>
              </a:ext>
            </a:extLst>
          </p:cNvPr>
          <p:cNvSpPr txBox="1"/>
          <p:nvPr/>
        </p:nvSpPr>
        <p:spPr>
          <a:xfrm>
            <a:off x="984632" y="3509806"/>
            <a:ext cx="38552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Sección de contabilidad y recaudación de la </a:t>
            </a:r>
            <a:r>
              <a:rPr lang="es-PE" dirty="0"/>
              <a:t>IAMC</a:t>
            </a:r>
            <a:endParaRPr lang="es-ES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8BB0C15-2FE3-905E-9E07-A687CAF1DAFE}"/>
              </a:ext>
            </a:extLst>
          </p:cNvPr>
          <p:cNvSpPr txBox="1"/>
          <p:nvPr/>
        </p:nvSpPr>
        <p:spPr>
          <a:xfrm>
            <a:off x="389780" y="4113305"/>
            <a:ext cx="6098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Proceso a externalizar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D83DB6F-7BA3-9D2E-F969-1C4F46969B0E}"/>
              </a:ext>
            </a:extLst>
          </p:cNvPr>
          <p:cNvSpPr txBox="1"/>
          <p:nvPr/>
        </p:nvSpPr>
        <p:spPr>
          <a:xfrm>
            <a:off x="6846377" y="3121407"/>
            <a:ext cx="45252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Mantener flujos estables, rápidos y actualizados, permitiendo que el área trabaje con menor carga operativa.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73683CA-42C3-71C9-AA3F-69D407B7C016}"/>
              </a:ext>
            </a:extLst>
          </p:cNvPr>
          <p:cNvSpPr txBox="1"/>
          <p:nvPr/>
        </p:nvSpPr>
        <p:spPr>
          <a:xfrm>
            <a:off x="5377436" y="3198945"/>
            <a:ext cx="14116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Objetivo</a:t>
            </a:r>
            <a:endParaRPr lang="es-PE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E290B22-931C-639B-FF5C-A456524750F4}"/>
              </a:ext>
            </a:extLst>
          </p:cNvPr>
          <p:cNvSpPr txBox="1"/>
          <p:nvPr/>
        </p:nvSpPr>
        <p:spPr>
          <a:xfrm>
            <a:off x="6846377" y="4050124"/>
            <a:ext cx="6098458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Reducción del uso de personal en tareas repetitivas.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Menor tiempo de ejecución en los procesos digitales.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Automatizaciones estables y bien documentadas.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Menos errores manuales y datos más confiables.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Soporte técnico inmediato ante fallas.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E199687D-8997-52AF-25E8-6BC7F002C245}"/>
              </a:ext>
            </a:extLst>
          </p:cNvPr>
          <p:cNvSpPr txBox="1"/>
          <p:nvPr/>
        </p:nvSpPr>
        <p:spPr>
          <a:xfrm>
            <a:off x="5377436" y="4157143"/>
            <a:ext cx="14116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Resultados </a:t>
            </a:r>
            <a:br>
              <a:rPr lang="es-ES" b="1" dirty="0"/>
            </a:br>
            <a:r>
              <a:rPr lang="es-ES" b="1" dirty="0"/>
              <a:t>esperados</a:t>
            </a:r>
          </a:p>
        </p:txBody>
      </p:sp>
    </p:spTree>
    <p:extLst>
      <p:ext uri="{BB962C8B-B14F-4D97-AF65-F5344CB8AC3E}">
        <p14:creationId xmlns:p14="http://schemas.microsoft.com/office/powerpoint/2010/main" val="3351904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473B216-FCAD-9B6F-ABC2-93D2A866E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B902BF6C-C888-2B78-2AB6-2DD75FAE91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3420" y="222592"/>
            <a:ext cx="633920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2800" b="1" u="sng" dirty="0"/>
              <a:t>Términos de Referencia (TDR)</a:t>
            </a:r>
            <a:endParaRPr sz="2800" b="1" u="sng" spc="-1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10" name="object 10">
            <a:extLst>
              <a:ext uri="{FF2B5EF4-FFF2-40B4-BE49-F238E27FC236}">
                <a16:creationId xmlns:a16="http://schemas.microsoft.com/office/drawing/2014/main" id="{9248DA41-7CC8-FF8C-E7BD-02F7E733CAB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40800" y="6057900"/>
            <a:ext cx="3050540" cy="670560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C419D91-6700-B54E-47FC-D525589F341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PE" smtClean="0"/>
              <a:t>3</a:t>
            </a:fld>
            <a:endParaRPr lang="es-PE"/>
          </a:p>
        </p:txBody>
      </p:sp>
      <p:sp>
        <p:nvSpPr>
          <p:cNvPr id="4" name="Marcador de pie de página 1">
            <a:extLst>
              <a:ext uri="{FF2B5EF4-FFF2-40B4-BE49-F238E27FC236}">
                <a16:creationId xmlns:a16="http://schemas.microsoft.com/office/drawing/2014/main" id="{B736A6AB-DEBA-4289-46B9-FB33B305BF6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413761" y="6515100"/>
            <a:ext cx="5379720" cy="342900"/>
          </a:xfrm>
        </p:spPr>
        <p:txBody>
          <a:bodyPr/>
          <a:lstStyle/>
          <a:p>
            <a:r>
              <a:rPr lang="es-ES" dirty="0"/>
              <a:t>Planeamiento Estratégico de las Tics- Sección 13592</a:t>
            </a:r>
            <a:endParaRPr lang="es-PE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1C8A317-B4E2-DF50-F7EF-D6B6F51D1E99}"/>
              </a:ext>
            </a:extLst>
          </p:cNvPr>
          <p:cNvSpPr txBox="1"/>
          <p:nvPr/>
        </p:nvSpPr>
        <p:spPr>
          <a:xfrm>
            <a:off x="231222" y="2400637"/>
            <a:ext cx="3420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Objetivos del Servicio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35C0C99-CFC9-6CDA-2C5D-C1AE6457A9E4}"/>
              </a:ext>
            </a:extLst>
          </p:cNvPr>
          <p:cNvSpPr txBox="1"/>
          <p:nvPr/>
        </p:nvSpPr>
        <p:spPr>
          <a:xfrm>
            <a:off x="627042" y="4778560"/>
            <a:ext cx="450176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Soporte técnico de automatizaciones (</a:t>
            </a:r>
            <a:r>
              <a:rPr lang="es-ES" sz="1600" dirty="0" err="1"/>
              <a:t>Power</a:t>
            </a:r>
            <a:r>
              <a:rPr lang="es-ES" sz="1600" dirty="0"/>
              <a:t> </a:t>
            </a:r>
            <a:r>
              <a:rPr lang="es-ES" sz="1600" dirty="0" err="1"/>
              <a:t>Automate</a:t>
            </a:r>
            <a:r>
              <a:rPr lang="es-ES" sz="1600" dirty="0"/>
              <a:t> Desktop, SharePoint y Excel Online).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Optimización de flujos existentes.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Implementación de nuevas automatizaciones cuando se requiera.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Entrega de documentación técnica.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F3E1A85-A772-FAFB-03FA-614780AEA048}"/>
              </a:ext>
            </a:extLst>
          </p:cNvPr>
          <p:cNvSpPr txBox="1"/>
          <p:nvPr/>
        </p:nvSpPr>
        <p:spPr>
          <a:xfrm>
            <a:off x="590591" y="2781086"/>
            <a:ext cx="53797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Asegurar continuidad y estabilidad de los flujos automatizados.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Implementar nuevas mejoras y automatizaciones según la demanda del área.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Reducir cargas manuales y errores operativos.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Garantizar documentación técnica clara y actualizada.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09114B9-0201-FC07-1E18-BE708D6BBE8F}"/>
              </a:ext>
            </a:extLst>
          </p:cNvPr>
          <p:cNvSpPr txBox="1"/>
          <p:nvPr/>
        </p:nvSpPr>
        <p:spPr>
          <a:xfrm>
            <a:off x="248500" y="4449534"/>
            <a:ext cx="6098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Alcance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5321B5D-299D-BDB3-6C33-70A368D8C1D9}"/>
              </a:ext>
            </a:extLst>
          </p:cNvPr>
          <p:cNvSpPr txBox="1"/>
          <p:nvPr/>
        </p:nvSpPr>
        <p:spPr>
          <a:xfrm>
            <a:off x="256622" y="914161"/>
            <a:ext cx="3420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Descripción del proyecto</a:t>
            </a:r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19DADC5-C051-305C-2504-CBA345A68499}"/>
              </a:ext>
            </a:extLst>
          </p:cNvPr>
          <p:cNvSpPr txBox="1"/>
          <p:nvPr/>
        </p:nvSpPr>
        <p:spPr>
          <a:xfrm>
            <a:off x="615991" y="1294610"/>
            <a:ext cx="5379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Servicio de soporte, mantenimiento y desarrollo de automatizaciones en Microsoft 365 para mejorar la eficiencia operativa de la Sección de Recaudación y Contabilidad.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E48973A-0FBE-F65F-B262-0CC91B270BC3}"/>
              </a:ext>
            </a:extLst>
          </p:cNvPr>
          <p:cNvSpPr txBox="1"/>
          <p:nvPr/>
        </p:nvSpPr>
        <p:spPr>
          <a:xfrm>
            <a:off x="6103374" y="919234"/>
            <a:ext cx="3420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Exclusiones</a:t>
            </a:r>
            <a:endParaRPr lang="es-ES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88BC676-0A90-6DC4-DB5A-111B9811676A}"/>
              </a:ext>
            </a:extLst>
          </p:cNvPr>
          <p:cNvSpPr txBox="1"/>
          <p:nvPr/>
        </p:nvSpPr>
        <p:spPr>
          <a:xfrm>
            <a:off x="6462743" y="1299683"/>
            <a:ext cx="5379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Toma de decisiones operativas del área.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Manejo de información sensible.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Supervisión de personal.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3B7D153-09C3-9C1E-AF82-57B917069F86}"/>
              </a:ext>
            </a:extLst>
          </p:cNvPr>
          <p:cNvSpPr txBox="1"/>
          <p:nvPr/>
        </p:nvSpPr>
        <p:spPr>
          <a:xfrm>
            <a:off x="6103374" y="2208682"/>
            <a:ext cx="3420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Cronograma e hitos</a:t>
            </a:r>
            <a:endParaRPr lang="es-ES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8805934-949D-6433-1959-D1F4CE2A747C}"/>
              </a:ext>
            </a:extLst>
          </p:cNvPr>
          <p:cNvSpPr txBox="1"/>
          <p:nvPr/>
        </p:nvSpPr>
        <p:spPr>
          <a:xfrm>
            <a:off x="6462742" y="2589131"/>
            <a:ext cx="571377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Hito 1 (</a:t>
            </a:r>
            <a:r>
              <a:rPr lang="es-ES" sz="1600" dirty="0" err="1"/>
              <a:t>Sem</a:t>
            </a:r>
            <a:r>
              <a:rPr lang="es-ES" sz="1600" dirty="0"/>
              <a:t> 1–2): Diagnóstico inicial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Hito 2 (</a:t>
            </a:r>
            <a:r>
              <a:rPr lang="es-ES" sz="1600" dirty="0" err="1"/>
              <a:t>Sem</a:t>
            </a:r>
            <a:r>
              <a:rPr lang="es-ES" sz="1600" dirty="0"/>
              <a:t> 3–6): Correcciones y soporte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Hito 3 (</a:t>
            </a:r>
            <a:r>
              <a:rPr lang="es-ES" sz="1600" dirty="0" err="1"/>
              <a:t>Sem</a:t>
            </a:r>
            <a:r>
              <a:rPr lang="es-ES" sz="1600" dirty="0"/>
              <a:t> 7–10): Optimización + nuevas automatizaciones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Hito 4 (</a:t>
            </a:r>
            <a:r>
              <a:rPr lang="es-ES" sz="1600" dirty="0" err="1"/>
              <a:t>Sem</a:t>
            </a:r>
            <a:r>
              <a:rPr lang="es-ES" sz="1600" dirty="0"/>
              <a:t> 11–12): Documentación técnica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Hito 5 (</a:t>
            </a:r>
            <a:r>
              <a:rPr lang="es-ES" sz="1600" dirty="0" err="1"/>
              <a:t>Sem</a:t>
            </a:r>
            <a:r>
              <a:rPr lang="es-ES" sz="1600" dirty="0"/>
              <a:t> 13–14): Validación final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B426A6F2-0C95-0F2A-1561-FA77B930F7A9}"/>
              </a:ext>
            </a:extLst>
          </p:cNvPr>
          <p:cNvSpPr txBox="1"/>
          <p:nvPr/>
        </p:nvSpPr>
        <p:spPr>
          <a:xfrm>
            <a:off x="6103374" y="3934348"/>
            <a:ext cx="3420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Criterios de calidad</a:t>
            </a:r>
            <a:endParaRPr lang="es-ES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7F582F1-507F-F48B-8F1A-3630D37E7169}"/>
              </a:ext>
            </a:extLst>
          </p:cNvPr>
          <p:cNvSpPr txBox="1"/>
          <p:nvPr/>
        </p:nvSpPr>
        <p:spPr>
          <a:xfrm>
            <a:off x="6462743" y="4314797"/>
            <a:ext cx="53797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Ejecuciones correctas ≥ 97%.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Incidencias críticas atendidas en menos de 24 horas.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Documentación técnica actualizada y estandarizada.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Cumplimiento del cronograma y de los entregables.</a:t>
            </a:r>
          </a:p>
        </p:txBody>
      </p:sp>
    </p:spTree>
    <p:extLst>
      <p:ext uri="{BB962C8B-B14F-4D97-AF65-F5344CB8AC3E}">
        <p14:creationId xmlns:p14="http://schemas.microsoft.com/office/powerpoint/2010/main" val="996911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2000" y="36443"/>
            <a:ext cx="10650220" cy="6573520"/>
            <a:chOff x="132079" y="142239"/>
            <a:chExt cx="10650220" cy="65735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2079" y="142239"/>
              <a:ext cx="10650220" cy="657352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1179" y="4366260"/>
              <a:ext cx="3947160" cy="2075179"/>
            </a:xfrm>
            <a:prstGeom prst="rect">
              <a:avLst/>
            </a:prstGeom>
          </p:spPr>
        </p:pic>
      </p:grpSp>
      <p:sp>
        <p:nvSpPr>
          <p:cNvPr id="6" name="Marcador de número de diapositiva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PE" smtClean="0"/>
              <a:t>4</a:t>
            </a:fld>
            <a:endParaRPr lang="es-PE"/>
          </a:p>
        </p:txBody>
      </p:sp>
      <p:sp>
        <p:nvSpPr>
          <p:cNvPr id="7" name="Marcador de pie de página 1">
            <a:extLst>
              <a:ext uri="{FF2B5EF4-FFF2-40B4-BE49-F238E27FC236}">
                <a16:creationId xmlns:a16="http://schemas.microsoft.com/office/drawing/2014/main" id="{180FF5A3-6923-5798-5761-3B3E84455F2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398520" y="6438513"/>
            <a:ext cx="5379720" cy="342900"/>
          </a:xfrm>
        </p:spPr>
        <p:txBody>
          <a:bodyPr/>
          <a:lstStyle/>
          <a:p>
            <a:r>
              <a:rPr lang="es-ES" dirty="0"/>
              <a:t>Planeamiento Estratégico de las Tics- Sección 13592</a:t>
            </a:r>
            <a:endParaRPr lang="es-PE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26ECEF8-B06C-7AC7-302B-5757AF8B1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E519717-61DC-55FC-CD45-AEE822D64B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1103" y="1400275"/>
            <a:ext cx="10591800" cy="884858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 marR="5080" indent="86360" algn="ctr">
              <a:spcBef>
                <a:spcPts val="900"/>
              </a:spcBef>
            </a:pPr>
            <a:r>
              <a:rPr lang="es-ES" sz="2500" b="1" u="sng" dirty="0">
                <a:latin typeface="Arial"/>
                <a:cs typeface="Arial"/>
              </a:rPr>
              <a:t>Aplicación de outsourcing tecnológico para la mejora de procesos operativos</a:t>
            </a:r>
            <a:endParaRPr lang="es-ES" sz="2500" u="sng" dirty="0">
              <a:latin typeface="Arial"/>
              <a:cs typeface="Arial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FF6CC7DA-3BD0-9158-D8D3-0EAD183EA6FD}"/>
              </a:ext>
            </a:extLst>
          </p:cNvPr>
          <p:cNvSpPr txBox="1"/>
          <p:nvPr/>
        </p:nvSpPr>
        <p:spPr>
          <a:xfrm>
            <a:off x="2286000" y="3130854"/>
            <a:ext cx="3200400" cy="3590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735"/>
              </a:lnSpc>
            </a:pPr>
            <a:r>
              <a:rPr lang="es-PE" sz="2500" b="1" spc="-5" dirty="0">
                <a:latin typeface="Arial"/>
                <a:cs typeface="Arial"/>
              </a:rPr>
              <a:t>Autor			:</a:t>
            </a:r>
          </a:p>
        </p:txBody>
      </p:sp>
      <p:pic>
        <p:nvPicPr>
          <p:cNvPr id="6" name="object 10">
            <a:extLst>
              <a:ext uri="{FF2B5EF4-FFF2-40B4-BE49-F238E27FC236}">
                <a16:creationId xmlns:a16="http://schemas.microsoft.com/office/drawing/2014/main" id="{CAF5518B-EA65-B1A9-3D3D-FA96912BC1F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76200"/>
            <a:ext cx="3200400" cy="1056286"/>
          </a:xfrm>
          <a:prstGeom prst="rect">
            <a:avLst/>
          </a:prstGeom>
        </p:spPr>
      </p:pic>
      <p:sp>
        <p:nvSpPr>
          <p:cNvPr id="7" name="object 3">
            <a:extLst>
              <a:ext uri="{FF2B5EF4-FFF2-40B4-BE49-F238E27FC236}">
                <a16:creationId xmlns:a16="http://schemas.microsoft.com/office/drawing/2014/main" id="{FA3E2296-77D7-8BFA-0360-C63839F13010}"/>
              </a:ext>
            </a:extLst>
          </p:cNvPr>
          <p:cNvSpPr txBox="1">
            <a:spLocks/>
          </p:cNvSpPr>
          <p:nvPr/>
        </p:nvSpPr>
        <p:spPr>
          <a:xfrm>
            <a:off x="5219700" y="5553769"/>
            <a:ext cx="2133599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395605">
              <a:spcBef>
                <a:spcPts val="100"/>
              </a:spcBef>
            </a:pPr>
            <a:r>
              <a:rPr lang="es-ES" sz="2500" b="1" kern="0" spc="-20" dirty="0">
                <a:solidFill>
                  <a:schemeClr val="tx1"/>
                </a:solidFill>
              </a:rPr>
              <a:t>Lima - 2025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A47195C7-D808-95FC-77DC-3320E42B284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886200" y="6515100"/>
            <a:ext cx="5379720" cy="276999"/>
          </a:xfrm>
        </p:spPr>
        <p:txBody>
          <a:bodyPr/>
          <a:lstStyle/>
          <a:p>
            <a:r>
              <a:rPr lang="es-ES" dirty="0"/>
              <a:t>Planeamiento Estratégico de las Tics- Sección 13592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63E1EAE-54A0-21B7-7AB8-1D5E22EBAFB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84721"/>
          </a:xfrm>
        </p:spPr>
        <p:txBody>
          <a:bodyPr/>
          <a:lstStyle/>
          <a:p>
            <a:fld id="{B6F15528-21DE-4FAA-801E-634DDDAF4B2B}" type="slidenum">
              <a:rPr lang="es-PE" sz="2500" smtClean="0"/>
              <a:t>5</a:t>
            </a:fld>
            <a:endParaRPr lang="es-PE" sz="2500"/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EA1E213C-361E-BB1E-2051-8613D45C4297}"/>
              </a:ext>
            </a:extLst>
          </p:cNvPr>
          <p:cNvSpPr txBox="1"/>
          <p:nvPr/>
        </p:nvSpPr>
        <p:spPr>
          <a:xfrm>
            <a:off x="2286000" y="3824326"/>
            <a:ext cx="3200400" cy="3590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735"/>
              </a:lnSpc>
            </a:pPr>
            <a:r>
              <a:rPr lang="es-PE" sz="2500" b="1" spc="-5" dirty="0">
                <a:latin typeface="Arial"/>
                <a:cs typeface="Arial"/>
              </a:rPr>
              <a:t>Docente		: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9A4CE5BB-0CC1-0430-A81C-6FE7A04F5154}"/>
              </a:ext>
            </a:extLst>
          </p:cNvPr>
          <p:cNvSpPr txBox="1"/>
          <p:nvPr/>
        </p:nvSpPr>
        <p:spPr>
          <a:xfrm>
            <a:off x="5626510" y="3129579"/>
            <a:ext cx="4992368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735"/>
              </a:lnSpc>
            </a:pPr>
            <a:r>
              <a:rPr lang="es-PE" sz="2500" b="1" spc="-5" dirty="0">
                <a:latin typeface="Arial"/>
                <a:cs typeface="Arial"/>
              </a:rPr>
              <a:t>Amaya Campos Jose Enrique</a:t>
            </a:r>
          </a:p>
          <a:p>
            <a:pPr algn="ctr">
              <a:lnSpc>
                <a:spcPts val="2735"/>
              </a:lnSpc>
            </a:pPr>
            <a:endParaRPr sz="2500" dirty="0">
              <a:latin typeface="Arial"/>
              <a:cs typeface="Arial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50EBD896-D08F-66EC-FCFE-F0E078F86E3F}"/>
              </a:ext>
            </a:extLst>
          </p:cNvPr>
          <p:cNvSpPr txBox="1"/>
          <p:nvPr/>
        </p:nvSpPr>
        <p:spPr>
          <a:xfrm>
            <a:off x="5638800" y="3893412"/>
            <a:ext cx="4134503" cy="3590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735"/>
              </a:lnSpc>
            </a:pPr>
            <a:r>
              <a:rPr lang="es-PE" sz="2500" b="1" spc="-5" dirty="0" err="1">
                <a:latin typeface="Arial"/>
                <a:cs typeface="Arial"/>
              </a:rPr>
              <a:t>Rios</a:t>
            </a:r>
            <a:r>
              <a:rPr lang="es-PE" sz="2500" b="1" spc="-5" dirty="0">
                <a:latin typeface="Arial"/>
                <a:cs typeface="Arial"/>
              </a:rPr>
              <a:t> Herrera </a:t>
            </a:r>
            <a:r>
              <a:rPr lang="es-PE" sz="2500" b="1" spc="-5" dirty="0" err="1">
                <a:latin typeface="Arial"/>
                <a:cs typeface="Arial"/>
              </a:rPr>
              <a:t>Josue</a:t>
            </a:r>
            <a:r>
              <a:rPr lang="es-PE" sz="2500" b="1" spc="-5" dirty="0">
                <a:latin typeface="Arial"/>
                <a:cs typeface="Arial"/>
              </a:rPr>
              <a:t> Joel</a:t>
            </a:r>
            <a:endParaRPr lang="es-PE" sz="25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77029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5953C37-381E-7166-0526-71525E968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06B36D8A-E0C6-7B57-0EA1-D8F1A33B99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448592"/>
            <a:ext cx="1057624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600" b="1" u="sng" dirty="0">
                <a:latin typeface="Arial"/>
                <a:cs typeface="Arial"/>
              </a:rPr>
              <a:t>Aplicación de outsourcing tecnológico para la mejora de procesos operativos</a:t>
            </a:r>
            <a:endParaRPr sz="1600" b="1" spc="-1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10" name="object 10">
            <a:extLst>
              <a:ext uri="{FF2B5EF4-FFF2-40B4-BE49-F238E27FC236}">
                <a16:creationId xmlns:a16="http://schemas.microsoft.com/office/drawing/2014/main" id="{CCB976FC-CCC6-FADE-0C4E-5A1A3626BCB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40800" y="6057900"/>
            <a:ext cx="3050540" cy="670560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53D05FD-675A-4FCA-EA11-82FF5D44E85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PE" smtClean="0"/>
              <a:t>6</a:t>
            </a:fld>
            <a:endParaRPr lang="es-PE"/>
          </a:p>
        </p:txBody>
      </p:sp>
      <p:sp>
        <p:nvSpPr>
          <p:cNvPr id="4" name="Marcador de pie de página 1">
            <a:extLst>
              <a:ext uri="{FF2B5EF4-FFF2-40B4-BE49-F238E27FC236}">
                <a16:creationId xmlns:a16="http://schemas.microsoft.com/office/drawing/2014/main" id="{EC966560-1FF5-D538-EC71-26B3B404DAC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413761" y="6515100"/>
            <a:ext cx="5379720" cy="342900"/>
          </a:xfrm>
        </p:spPr>
        <p:txBody>
          <a:bodyPr/>
          <a:lstStyle/>
          <a:p>
            <a:r>
              <a:rPr lang="es-ES" dirty="0"/>
              <a:t>Planeamiento Estratégico de las Tics- Sección 13592</a:t>
            </a:r>
            <a:endParaRPr lang="es-PE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1734E88-6010-0A83-F809-863E335CAC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468912"/>
              </p:ext>
            </p:extLst>
          </p:nvPr>
        </p:nvGraphicFramePr>
        <p:xfrm>
          <a:off x="419100" y="1161718"/>
          <a:ext cx="11353800" cy="4170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79">
                  <a:extLst>
                    <a:ext uri="{9D8B030D-6E8A-4147-A177-3AD203B41FA5}">
                      <a16:colId xmlns:a16="http://schemas.microsoft.com/office/drawing/2014/main" val="69618659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416157640"/>
                    </a:ext>
                  </a:extLst>
                </a:gridCol>
                <a:gridCol w="2293621">
                  <a:extLst>
                    <a:ext uri="{9D8B030D-6E8A-4147-A177-3AD203B41FA5}">
                      <a16:colId xmlns:a16="http://schemas.microsoft.com/office/drawing/2014/main" val="1156959115"/>
                    </a:ext>
                  </a:extLst>
                </a:gridCol>
                <a:gridCol w="1363979">
                  <a:extLst>
                    <a:ext uri="{9D8B030D-6E8A-4147-A177-3AD203B41FA5}">
                      <a16:colId xmlns:a16="http://schemas.microsoft.com/office/drawing/2014/main" val="1523627260"/>
                    </a:ext>
                  </a:extLst>
                </a:gridCol>
                <a:gridCol w="2420621">
                  <a:extLst>
                    <a:ext uri="{9D8B030D-6E8A-4147-A177-3AD203B41FA5}">
                      <a16:colId xmlns:a16="http://schemas.microsoft.com/office/drawing/2014/main" val="1651536579"/>
                    </a:ext>
                  </a:extLst>
                </a:gridCol>
                <a:gridCol w="1892300">
                  <a:extLst>
                    <a:ext uri="{9D8B030D-6E8A-4147-A177-3AD203B41FA5}">
                      <a16:colId xmlns:a16="http://schemas.microsoft.com/office/drawing/2014/main" val="2776632588"/>
                    </a:ext>
                  </a:extLst>
                </a:gridCol>
              </a:tblGrid>
              <a:tr h="351906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Proceso objetivo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Proceso objetivo detallado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Razones para externalizar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Solución tecnológica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Objetivos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Medidas de éxito 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755827"/>
                  </a:ext>
                </a:extLst>
              </a:tr>
              <a:tr h="532612">
                <a:tc rowSpan="3">
                  <a:txBody>
                    <a:bodyPr/>
                    <a:lstStyle/>
                    <a:p>
                      <a:pPr algn="l"/>
                      <a:r>
                        <a:rPr lang="es-ES" sz="1400" dirty="0"/>
                        <a:t>Recaudación a través de la ejecución de ODG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400" dirty="0"/>
                        <a:t>Actualización de deuda </a:t>
                      </a:r>
                      <a:endParaRPr lang="es-PE" sz="1400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ES" sz="1400" dirty="0"/>
                        <a:t>Proceso estable, repetitivo y definido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ES" sz="1400" dirty="0"/>
                        <a:t>Alta dependencia de personal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PE" sz="1400" dirty="0"/>
                        <a:t>Tiempos de respuesta prolongados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PE" sz="1400" dirty="0"/>
                        <a:t>Frecuentes errores manuales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es-ES" sz="1400" dirty="0"/>
                        <a:t>Automatización de LC con PAD y gestión documental centralizada en SharePoint.</a:t>
                      </a:r>
                      <a:endParaRPr lang="es-PE" sz="1400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ES" sz="1400" dirty="0"/>
                        <a:t>Reducir la carga operativa del personal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ES" sz="1400" dirty="0"/>
                        <a:t>Reducir el tiempo de ejecución del proceso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PE" sz="1400" dirty="0"/>
                        <a:t>Minimizar errores manuales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ES" sz="1400" dirty="0"/>
                        <a:t>Tiempo de ejecución de ODG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ES" sz="1400" dirty="0"/>
                        <a:t>Horas-especialistas utilizadas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ES" sz="1400" dirty="0"/>
                        <a:t>Porcentaje de reducción de errores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7830428"/>
                  </a:ext>
                </a:extLst>
              </a:tr>
              <a:tr h="760874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400" dirty="0"/>
                        <a:t>Generación de liquidaciones de cobranza (LC)</a:t>
                      </a:r>
                      <a:endParaRPr lang="es-PE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3006312"/>
                  </a:ext>
                </a:extLst>
              </a:tr>
              <a:tr h="532612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400" dirty="0"/>
                        <a:t>Impresión de las LC generadas</a:t>
                      </a:r>
                      <a:endParaRPr lang="es-PE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5809994"/>
                  </a:ext>
                </a:extLst>
              </a:tr>
              <a:tr h="532612">
                <a:tc rowSpan="3">
                  <a:txBody>
                    <a:bodyPr/>
                    <a:lstStyle/>
                    <a:p>
                      <a:pPr algn="l"/>
                      <a:r>
                        <a:rPr lang="es-ES" sz="1400" dirty="0"/>
                        <a:t>Resolución de solicitudes/expedientes de devoluciones 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400" dirty="0"/>
                        <a:t>Control de memorándums </a:t>
                      </a:r>
                      <a:endParaRPr lang="es-PE" sz="1400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ES" sz="1400" dirty="0"/>
                        <a:t>Proceso estable, repetitivo y definido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ES" sz="1400" dirty="0"/>
                        <a:t>Acumulación de expedientes pasivos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ES" sz="1400" dirty="0"/>
                        <a:t>Retrasos en la atención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ES" sz="1400" dirty="0"/>
                        <a:t>Decisiones basadas en información incompleta o tardía</a:t>
                      </a:r>
                      <a:endParaRPr lang="es-PE" sz="1400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es-ES" sz="1400" dirty="0"/>
                        <a:t>Automatización del seguimiento de solicitudes con PAD y trazabilidad en SharePoint.</a:t>
                      </a:r>
                      <a:endParaRPr lang="es-PE" sz="1400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ES" sz="1400" dirty="0"/>
                        <a:t>Reducir los expedientes pasivos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ES" sz="1400" dirty="0"/>
                        <a:t>Mejorar el control de solicitudes pendientes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ES" sz="1400" dirty="0"/>
                        <a:t>Asegurar decisiones oportunas y basadas en información completa</a:t>
                      </a:r>
                      <a:endParaRPr lang="es-PE" sz="1400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ES" sz="1400" dirty="0"/>
                        <a:t>Cantidad de expedientes pasivos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ES" sz="1400" dirty="0"/>
                        <a:t>Tasa de resolución mensual de expedientes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1179589"/>
                  </a:ext>
                </a:extLst>
              </a:tr>
              <a:tr h="760874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400" dirty="0"/>
                        <a:t>Control de solicitudes pendientes</a:t>
                      </a:r>
                      <a:endParaRPr lang="es-PE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8161583"/>
                  </a:ext>
                </a:extLst>
              </a:tr>
              <a:tr h="532612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400" dirty="0"/>
                        <a:t>Control de solicitudes resueltas</a:t>
                      </a:r>
                      <a:endParaRPr lang="es-PE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0822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1754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5A2B992-9F82-C9C4-D76E-8ED3162CA9B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s-PE" dirty="0"/>
              <a:t>Curso Integrador I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988B972-9D0C-D268-9CAA-4030A5388DB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PE" smtClean="0"/>
              <a:t>7</a:t>
            </a:fld>
            <a:endParaRPr lang="es-PE"/>
          </a:p>
        </p:txBody>
      </p:sp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9ACB5D25-ABFE-B2ED-0D0E-C8490E8015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1201592"/>
              </p:ext>
            </p:extLst>
          </p:nvPr>
        </p:nvGraphicFramePr>
        <p:xfrm>
          <a:off x="290286" y="392192"/>
          <a:ext cx="5927272" cy="28061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Gráfico 15">
            <a:extLst>
              <a:ext uri="{FF2B5EF4-FFF2-40B4-BE49-F238E27FC236}">
                <a16:creationId xmlns:a16="http://schemas.microsoft.com/office/drawing/2014/main" id="{A1375B46-1510-2917-D9A3-C202FD56B9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7777133"/>
              </p:ext>
            </p:extLst>
          </p:nvPr>
        </p:nvGraphicFramePr>
        <p:xfrm>
          <a:off x="290286" y="3396343"/>
          <a:ext cx="5927272" cy="28061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Gráfico 19">
            <a:extLst>
              <a:ext uri="{FF2B5EF4-FFF2-40B4-BE49-F238E27FC236}">
                <a16:creationId xmlns:a16="http://schemas.microsoft.com/office/drawing/2014/main" id="{3B6528FE-CBFD-7F21-A202-5D0D99DB80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2474615"/>
              </p:ext>
            </p:extLst>
          </p:nvPr>
        </p:nvGraphicFramePr>
        <p:xfrm>
          <a:off x="6781074" y="851304"/>
          <a:ext cx="4724400" cy="37128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Marcador de pie de página 3">
            <a:extLst>
              <a:ext uri="{FF2B5EF4-FFF2-40B4-BE49-F238E27FC236}">
                <a16:creationId xmlns:a16="http://schemas.microsoft.com/office/drawing/2014/main" id="{D184B368-8870-9249-C04E-AD7795E9C4F2}"/>
              </a:ext>
            </a:extLst>
          </p:cNvPr>
          <p:cNvSpPr txBox="1">
            <a:spLocks/>
          </p:cNvSpPr>
          <p:nvPr/>
        </p:nvSpPr>
        <p:spPr>
          <a:xfrm>
            <a:off x="6935107" y="5096909"/>
            <a:ext cx="4534081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s-PE"/>
            </a:defPPr>
            <a:lvl1pPr marL="0" algn="ct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sz="1400" dirty="0">
                <a:solidFill>
                  <a:schemeClr val="tx1"/>
                </a:solidFill>
              </a:rPr>
              <a:t>*Solo se consideró los errores de digitación de los especialistas </a:t>
            </a:r>
          </a:p>
        </p:txBody>
      </p:sp>
    </p:spTree>
    <p:extLst>
      <p:ext uri="{BB962C8B-B14F-4D97-AF65-F5344CB8AC3E}">
        <p14:creationId xmlns:p14="http://schemas.microsoft.com/office/powerpoint/2010/main" val="2713626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097D64B-AC7C-E995-A77B-8E8A3AE748C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s-PE"/>
              <a:t>Curso Integrador I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F1E689B-8121-AB31-D961-3EEE50DD2D3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PE" smtClean="0"/>
              <a:t>8</a:t>
            </a:fld>
            <a:endParaRPr lang="es-PE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4ED8523-FD2A-3CD8-C267-95E20B7DECC4}"/>
              </a:ext>
            </a:extLst>
          </p:cNvPr>
          <p:cNvSpPr txBox="1"/>
          <p:nvPr/>
        </p:nvSpPr>
        <p:spPr>
          <a:xfrm>
            <a:off x="533400" y="838200"/>
            <a:ext cx="335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800" b="1" u="sng" dirty="0"/>
              <a:t>Cantidad de expedientes pasivos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E1FD78F-EDF7-A585-8A95-406C15A80179}"/>
              </a:ext>
            </a:extLst>
          </p:cNvPr>
          <p:cNvSpPr txBox="1"/>
          <p:nvPr/>
        </p:nvSpPr>
        <p:spPr>
          <a:xfrm>
            <a:off x="5570220" y="83820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800" b="1" u="sng" dirty="0"/>
              <a:t>Tasa de resolución mensual de expedientes</a:t>
            </a:r>
            <a:endParaRPr lang="es-PE" sz="1800" b="1" u="sng" dirty="0"/>
          </a:p>
        </p:txBody>
      </p:sp>
    </p:spTree>
    <p:extLst>
      <p:ext uri="{BB962C8B-B14F-4D97-AF65-F5344CB8AC3E}">
        <p14:creationId xmlns:p14="http://schemas.microsoft.com/office/powerpoint/2010/main" val="634746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EAC1D-7526-556E-65E1-D697AE0E4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98138B-8D80-17EF-172A-85322BB77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199" y="1143000"/>
            <a:ext cx="2895600" cy="615553"/>
          </a:xfrm>
        </p:spPr>
        <p:txBody>
          <a:bodyPr/>
          <a:lstStyle/>
          <a:p>
            <a:r>
              <a:rPr lang="es-ES" b="1" u="sng" dirty="0"/>
              <a:t>CONCLUSIÓN</a:t>
            </a:r>
            <a:r>
              <a:rPr lang="es-ES" u="sng" dirty="0"/>
              <a:t> </a:t>
            </a:r>
            <a:endParaRPr lang="es-PE" u="sng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1AAA7-62AD-16A1-6CEE-D1BCECFBD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44344" y="2505670"/>
            <a:ext cx="8703309" cy="258532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just"/>
            <a:r>
              <a:rPr lang="es-ES" sz="2400" dirty="0"/>
              <a:t>La mejora obtenida en los dos procesos principales demuestra que tercerizar el soporte y mantenimiento de las automatizaciones con las herramientas de Microsoft 365 puede generar un impacto significativo. Contar con especialistas realmente capacitados permitiría implementar, corregir y optimizar de forma continua estas soluciones tecnológicas, logrando mayor velocidad, eficiencia y sostenibilidad operativa en el área.</a:t>
            </a:r>
            <a:endParaRPr lang="es-PE" sz="240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81EA7FB-6F59-6941-95AF-B7219E156EB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PE" smtClean="0"/>
              <a:t>9</a:t>
            </a:fld>
            <a:endParaRPr lang="es-PE"/>
          </a:p>
        </p:txBody>
      </p:sp>
      <p:sp>
        <p:nvSpPr>
          <p:cNvPr id="6" name="Marcador de pie de página 1">
            <a:extLst>
              <a:ext uri="{FF2B5EF4-FFF2-40B4-BE49-F238E27FC236}">
                <a16:creationId xmlns:a16="http://schemas.microsoft.com/office/drawing/2014/main" id="{D07F07DA-A35F-2F5C-319F-BACC308C1D5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657600" y="6515100"/>
            <a:ext cx="5379720" cy="342900"/>
          </a:xfrm>
        </p:spPr>
        <p:txBody>
          <a:bodyPr/>
          <a:lstStyle/>
          <a:p>
            <a:r>
              <a:rPr lang="es-ES" dirty="0"/>
              <a:t>Planeamiento Estratégico de las Tics- Sección 13592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04777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C9DA531-A199-749F-F5AF-5213EEC21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42FB5621-A87E-F5BF-B53F-694F4C7FEA5C}"/>
              </a:ext>
            </a:extLst>
          </p:cNvPr>
          <p:cNvGrpSpPr/>
          <p:nvPr/>
        </p:nvGrpSpPr>
        <p:grpSpPr>
          <a:xfrm>
            <a:off x="762000" y="36443"/>
            <a:ext cx="10650220" cy="6573520"/>
            <a:chOff x="132079" y="142239"/>
            <a:chExt cx="10650220" cy="657352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98A2E766-5EBA-A75F-C504-47C3A2130E8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2079" y="142239"/>
              <a:ext cx="10650220" cy="6573520"/>
            </a:xfrm>
            <a:prstGeom prst="rect">
              <a:avLst/>
            </a:prstGeom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CD5B687-7332-BDC7-BB4E-32A6A802FAF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1179" y="4366260"/>
              <a:ext cx="3947160" cy="2075179"/>
            </a:xfrm>
            <a:prstGeom prst="rect">
              <a:avLst/>
            </a:prstGeom>
          </p:spPr>
        </p:pic>
      </p:grp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E3D9DE-3C90-80EA-3C71-577A74690F2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PE" smtClean="0"/>
              <a:t>10</a:t>
            </a:fld>
            <a:endParaRPr lang="es-PE"/>
          </a:p>
        </p:txBody>
      </p:sp>
      <p:sp>
        <p:nvSpPr>
          <p:cNvPr id="7" name="Marcador de pie de página 1">
            <a:extLst>
              <a:ext uri="{FF2B5EF4-FFF2-40B4-BE49-F238E27FC236}">
                <a16:creationId xmlns:a16="http://schemas.microsoft.com/office/drawing/2014/main" id="{8816A279-92B2-ACDB-1E47-358FA4051E8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398520" y="6438513"/>
            <a:ext cx="5379720" cy="342900"/>
          </a:xfrm>
        </p:spPr>
        <p:txBody>
          <a:bodyPr/>
          <a:lstStyle/>
          <a:p>
            <a:r>
              <a:rPr lang="es-ES" dirty="0"/>
              <a:t>Planeamiento Estratégico de las Tics- Sección 13592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077770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783</TotalTime>
  <Words>773</Words>
  <Application>Microsoft Office PowerPoint</Application>
  <PresentationFormat>Panorámica</PresentationFormat>
  <Paragraphs>128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Propuesta de outsourcing para la Sección de contabilidad y recaudación de la IAMC </vt:lpstr>
      <vt:lpstr>Propuesta de Outsourcing</vt:lpstr>
      <vt:lpstr>Términos de Referencia (TDR)</vt:lpstr>
      <vt:lpstr>Presentación de PowerPoint</vt:lpstr>
      <vt:lpstr>Aplicación de outsourcing tecnológico para la mejora de procesos operativos</vt:lpstr>
      <vt:lpstr>Aplicación de outsourcing tecnológico para la mejora de procesos operativos</vt:lpstr>
      <vt:lpstr>Presentación de PowerPoint</vt:lpstr>
      <vt:lpstr>Presentación de PowerPoint</vt:lpstr>
      <vt:lpstr>CONCLUSIÓN 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Orians, A.J.</dc:creator>
  <cp:lastModifiedBy>Amaya Campos Jose Enrique - Practicante</cp:lastModifiedBy>
  <cp:revision>28</cp:revision>
  <dcterms:created xsi:type="dcterms:W3CDTF">2024-03-14T23:24:55Z</dcterms:created>
  <dcterms:modified xsi:type="dcterms:W3CDTF">2025-11-20T16:33:12Z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2023-08-22T00:00:00Z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2024-03-14T00:00:00Z</vt:filetime>
  </property>
</Properties>
</file>